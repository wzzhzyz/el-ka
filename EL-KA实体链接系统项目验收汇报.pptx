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9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EL-KA本地化实体链接系统的项目验收汇报。本次汇报将向大家展示我们团队在过去一段时间内的工作成果，包括系统的核心功能、技术架构、团队分工以及未来的扩展规划。希望通过这次汇报，能让大家对我们的项目有一个全面而清晰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将介绍项目的整体背景、目标与核心价值。接着，会详细说明我们团队的分工情况以及系统的整体架构。第三部分是本次汇报的重点，将展示系统的核心能力与各模块的实现成果。最后，我们会总结已交付的成果，并对未来的扩展方向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项目的背景。我们的项目旨在解决一个普遍存在的痛点：文本中实体名称的不统一和同义指代问题。我们的目标是构建一个功能完备且具备服务化能力的实体链接系统。这个系统的核心价值在于，它不仅能赋能业务系统，提升数据处理的智能化水平，更重要的是，它支持私有化部署，能够充分保障企业的数据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高效地完成项目，我们团队进行了明确的分工。同学A主要负责核心算法与基础模块，包括实体链接流水线、知识库处理和共指模块。同学B专注于服务化与工程化，负责FastAPI服务、Trace数据库和Agent框架。而我本人则负责项目的整体整合、架构设计以及文档撰写等管理工作。通过这样的分工，我们确保了项目各部分的专业性和协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采用了清晰的分层架构。最上层是Agent层，为未来扩展不同推理策略提供了入口。服务层基于FastAPI，封装了统一的对外接口。核心处理层包含了实体匹配和共指消解两大模块。最底层是数据层，负责知识库的加载和日志的持久化。这种分层设计使得各模块职责明确，便于独立开发、测试和未来的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系统的核心能力。首先是实体链接主流程。系统接收文本和可选的实体提及作为输入，经过处理后，能够输出标准的实体ID、名称、置信度，以及一个非常重要的信息——是否为NIL实体，也就是无法链接到知识库的实体。特别值得一提的是，系统还会返回链接的依据和候选列表，这极大地增强了结果的可解释性，方便我们进行调试和复核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第二项核心能力是共指消解。举个例子，对于“人民日报社、新华通讯社、上海报业集团澎湃新闻正在飞速发展，他们是我们的未来”这句话，系统能够将代词“他们”正确地关联到前面提到的多个机构实体。我们可以通过开关来控制这个功能，直观地展示其效果。这背后的原理是，共指消解依赖于前面实体链接的成功结果，从而实现上下文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项核心能力体现在可追溯性和服务化两个方面。首先，系统为每一次请求生成一个唯一的trace_id，所有的请求和中间结果都会被记录下来，这让我们的系统不仅能给出结果，还能解释结果是如何生成的。其次，系统通过标准的HTTP接口提供服务，并且配有Swagger可视化文档，无论是前端调试还是后端集成都非常方便，真正具备了可交付、可使用的服务化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具体的模块成果。首先是同学A负责的部分。他成功实现了实体链接的核心流水线，包括候选生成、消歧和NIL判定，并设计了本地规则回退链路，保证了系统的稳定性。在知识库方面，他实现了灵活的加载机制，支持动态替换行业数据。此外，他还开发了针对中文特点的共指规则集，有效处理了各种指代现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接下来是同学B负责的模块。他构建了稳定的FastAPI服务层，提供了健康检查、实体链接等核心接口。同时，他实现了SQLite Trace数据库，确保了每一次请求的可追溯性。此外，他还设计了可插拔的Agent调度框架，为未来集成不同的推理策略奠定了坚实的基础。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本次的交付成果。我们交付了一个可直接运行的实体链接服务，附带统一的接口规范、完整的Trace数据库、独立的共指模块以及自动化测试脚本。展望未来，我们计划在共指能力、消歧能力、知识库管理和Agent策略等方面进行持续增强和扩展，使系统更加智能和强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image" Target="../media/image10.svg"/><Relationship Id="rId2" Type="http://schemas.openxmlformats.org/officeDocument/2006/relationships/tags" Target="../tags/tag2.xml"/><Relationship Id="rId19" Type="http://schemas.openxmlformats.org/officeDocument/2006/relationships/image" Target="../media/image9.png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image" Target="../media/image8.svg"/><Relationship Id="rId11" Type="http://schemas.openxmlformats.org/officeDocument/2006/relationships/image" Target="../media/image7.png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image" Target="../media/image2.svg"/><Relationship Id="rId2" Type="http://schemas.openxmlformats.org/officeDocument/2006/relationships/tags" Target="../tags/tag20.xml"/><Relationship Id="rId19" Type="http://schemas.openxmlformats.org/officeDocument/2006/relationships/image" Target="../media/image1.png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tags" Target="../tags/tag26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tags" Target="../tags/tag38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image" Target="../media/image34.svg"/><Relationship Id="rId10" Type="http://schemas.openxmlformats.org/officeDocument/2006/relationships/image" Target="../media/image33.png"/><Relationship Id="rId1" Type="http://schemas.openxmlformats.org/officeDocument/2006/relationships/tags" Target="../tags/tag3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36.svg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48.svg"/><Relationship Id="rId15" Type="http://schemas.openxmlformats.org/officeDocument/2006/relationships/image" Target="../media/image47.png"/><Relationship Id="rId14" Type="http://schemas.openxmlformats.org/officeDocument/2006/relationships/image" Target="../media/image46.svg"/><Relationship Id="rId13" Type="http://schemas.openxmlformats.org/officeDocument/2006/relationships/image" Target="../media/image45.png"/><Relationship Id="rId12" Type="http://schemas.openxmlformats.org/officeDocument/2006/relationships/image" Target="../media/image44.svg"/><Relationship Id="rId11" Type="http://schemas.openxmlformats.org/officeDocument/2006/relationships/image" Target="../media/image43.png"/><Relationship Id="rId10" Type="http://schemas.openxmlformats.org/officeDocument/2006/relationships/image" Target="../media/image42.svg"/><Relationship Id="rId1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16000" y="-1016000"/>
            <a:ext cx="3810000" cy="3810000"/>
          </a:xfrm>
          <a:prstGeom prst="ellipse">
            <a:avLst/>
          </a:prstGeom>
          <a:solidFill>
            <a:srgbClr val="00808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414000" y="4826000"/>
            <a:ext cx="2794000" cy="2794000"/>
          </a:xfrm>
          <a:prstGeom prst="ellipse">
            <a:avLst/>
          </a:prstGeom>
          <a:solidFill>
            <a:srgbClr val="0080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2159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EL-KA 本地化实体链接系统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342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项目验收汇报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207000" y="4445000"/>
            <a:ext cx="1778000" cy="381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4500" y="5232400"/>
            <a:ext cx="330200" cy="330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429000" y="5207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组长：黄筱瑶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组员：黎承鑫</a:t>
            </a:r>
            <a:r>
              <a:rPr lang="en-US" altLang="zh-CN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欧小红</a:t>
            </a:r>
            <a:endParaRPr lang="zh-CN" alt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31254">
            <a:off x="5778500" y="5518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80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5232400"/>
            <a:ext cx="330200" cy="330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5207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2026年7月14日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2286000"/>
            <a:ext cx="101600" cy="19050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 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81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spc="400">
                <a:solidFill>
                  <a:srgbClr val="008080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826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聚焦核心价值，共建智能未来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全方位解析项目全貌与成果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064000" y="1397000"/>
            <a:ext cx="3746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064000" y="1397000"/>
            <a:ext cx="3746500" cy="508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254500" y="1651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16500" y="1752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2972">
            <a:off x="4254512" y="2406650"/>
            <a:ext cx="336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254500" y="2603500"/>
            <a:ext cx="336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深度剖析项目的启动背景、建设目标与核心商业价值，明确实施路径与预期收益，奠定项目成功基石。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937500" y="1397000"/>
            <a:ext cx="3746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937500" y="1397000"/>
            <a:ext cx="3746500" cy="508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90000" y="1752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团队分工与架构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2972">
            <a:off x="8128012" y="2406650"/>
            <a:ext cx="336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128000" y="2603500"/>
            <a:ext cx="336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清晰界定各成员职责边界，展示高内聚低耦合的系统分层架构设计，确保团队高效协同与系统灵活扩展。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064000" y="3937000"/>
            <a:ext cx="3746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064000" y="3937000"/>
            <a:ext cx="3746500" cy="508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254500" y="4191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016500" y="4292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核心能力与成果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2972">
            <a:off x="4254512" y="4946650"/>
            <a:ext cx="336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4254500" y="5143500"/>
            <a:ext cx="336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重点展示实体链接、共指消解等关键技术实现，验证系统的高精准度、强稳定性与全链路可追溯性。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937500" y="3937000"/>
            <a:ext cx="3746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937500" y="3937000"/>
            <a:ext cx="3746500" cy="508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128000" y="4191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90000" y="4292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交付成果与展望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2972">
            <a:off x="8128012" y="4946650"/>
            <a:ext cx="336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8128000" y="5143500"/>
            <a:ext cx="336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总结阶段交付物清单与验收标准，复盘项目经验，并规划未来功能迭代方向与长期演进路线图。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项目概述：背景、目标与价值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08000" y="1778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095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397000" y="21336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762000" y="2857500"/>
            <a:ext cx="508000" cy="381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62000" y="3175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解决实体名称不统一、别名多样及同义指代判定难的行业痛点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762000" y="4191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在企业与科研场景中，同一实体常存在多种表述（如“苹果公司”与“Apple Inc.”）。这种命名的不规范导致机器无法自动识别与归一化，成为阻碍数据整合、智能检索与知识图谱构建的关键难题。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4318000" y="1778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2095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5207000" y="21336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验收目标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4572000" y="2857500"/>
            <a:ext cx="508000" cy="381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4572000" y="3175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构建功能完备、具备高可用服务化能力的实体链接系统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4572000" y="4191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实现中文实体识别、别名匹配、消歧及共指消解的全流程处理；基于FastAPI封装标准HTTP接口，支持高并发调用与灵活扩展，能够无缝集成至各类业务系统，实现开箱即用。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8128000" y="1778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82000" y="2095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9017000" y="21336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核心价值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8382000" y="2857500"/>
            <a:ext cx="508000" cy="381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23"/>
            </p:custDataLst>
          </p:nvPr>
        </p:nvSpPr>
        <p:spPr>
          <a:xfrm>
            <a:off x="8382000" y="3175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智能化赋能业务升级，同时筑牢数据安全与隐私防线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8382000" y="4191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将复杂的NLP能力转化为通用服务，提升业务数据分析与处理的智能化水平；支持私有化部署模式，所有数据处理均在本地闭环完成，严格满足企业对数据合规与隐私保护的高标准要求。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团队分工与职责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08000" y="1651000"/>
            <a:ext cx="35052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270000" y="1930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黄筱瑶</a:t>
            </a:r>
            <a:endParaRPr lang="zh-CN" altLang="en-US" sz="2000" b="1" i="0" u="none" strike="noStrike">
              <a:solidFill>
                <a:srgbClr val="0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762000" y="2603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总负责</a:t>
            </a:r>
            <a:endParaRPr lang="zh-CN" alt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>
            <p:custDataLst>
              <p:tags r:id="rId7"/>
            </p:custDataLst>
          </p:nvPr>
        </p:nvCxnSpPr>
        <p:spPr>
          <a:xfrm rot="-14566">
            <a:off x="762013" y="3105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762000" y="3302000"/>
            <a:ext cx="2997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3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架构设计与项目管理</a:t>
            </a:r>
            <a:endParaRPr lang="zh-CN" altLang="en-US" sz="13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3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服务化与工程化落地</a:t>
            </a:r>
            <a:endParaRPr lang="zh-CN" altLang="en-US" sz="13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zh-CN" altLang="en-US" sz="13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4343400" y="1651000"/>
            <a:ext cx="35052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97400" y="190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5105400" y="1930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黎承鑫</a:t>
            </a:r>
            <a:endParaRPr lang="zh-CN" altLang="en-US" sz="2000" b="1" i="0" u="none" strike="noStrike">
              <a:solidFill>
                <a:srgbClr val="0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4597400" y="2603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服务化与工程化落地</a:t>
            </a:r>
            <a:endParaRPr lang="en-US" sz="1100"/>
          </a:p>
        </p:txBody>
      </p:sp>
      <p:cxnSp>
        <p:nvCxnSpPr>
          <p:cNvPr id="15" name="Connector 15"/>
          <p:cNvCxnSpPr/>
          <p:nvPr>
            <p:custDataLst>
              <p:tags r:id="rId15"/>
            </p:custDataLst>
          </p:nvPr>
        </p:nvCxnSpPr>
        <p:spPr>
          <a:xfrm rot="-14566">
            <a:off x="4597413" y="3105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4597400" y="3302000"/>
            <a:ext cx="2997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•核心算法</a:t>
            </a:r>
            <a:r>
              <a:rPr lang="zh-CN" alt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、模型</a:t>
            </a:r>
            <a:r>
              <a:rPr lang="zh-CN" alt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训练实现与测试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8178800" y="1651000"/>
            <a:ext cx="35052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32800" y="1905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8940800" y="1930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项目整合与统筹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8432800" y="2603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架构设计与项目管理</a:t>
            </a:r>
            <a:endParaRPr lang="en-US" sz="1100"/>
          </a:p>
        </p:txBody>
      </p:sp>
      <p:cxnSp>
        <p:nvCxnSpPr>
          <p:cNvPr id="21" name="Connector 21"/>
          <p:cNvCxnSpPr/>
          <p:nvPr>
            <p:custDataLst>
              <p:tags r:id="rId23"/>
            </p:custDataLst>
          </p:nvPr>
        </p:nvCxnSpPr>
        <p:spPr>
          <a:xfrm rot="-14566">
            <a:off x="8432813" y="3105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8432800" y="3302000"/>
            <a:ext cx="2997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知识库、共指消解以及评测集</a:t>
            </a:r>
            <a:endParaRPr lang="zh-CN" altLang="en-US" sz="13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08000" y="5715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0080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584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协同目标：</a:t>
            </a:r>
            <a:r>
              <a:rPr lang="en-US" sz="1400" b="0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通过明确的职责边界与高效的协作机制，确保从算法模型到工程部署的无缝衔接，打造高质量、可维护的智能系统。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系统整体架构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1079500"/>
          </a:xfrm>
          <a:prstGeom prst="roundRect">
            <a:avLst>
              <a:gd name="adj" fmla="val 0"/>
            </a:avLst>
          </a:prstGeom>
          <a:solidFill>
            <a:srgbClr val="008080">
              <a:alpha val="8000"/>
            </a:srgbClr>
          </a:solidFill>
          <a:ln w="12700" cap="flat" cmpd="sng">
            <a:solidFill>
              <a:srgbClr val="0080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270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3716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Agent 层 · 智能体调度与扩展中枢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作为系统的顶层交互入口与策略调度核心，支持灵活接入多场景推理策略与智能体协作模式，实现业务需求与底层能力的解耦，为上层应用提供统一的智能化接入端点，具备极强的场景适配性与扩展性。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08000" y="2476500"/>
            <a:ext cx="11176000" cy="1079500"/>
          </a:xfrm>
          <a:prstGeom prst="roundRect">
            <a:avLst>
              <a:gd name="adj" fmla="val 0"/>
            </a:avLst>
          </a:prstGeom>
          <a:solidFill>
            <a:srgbClr val="008080">
              <a:alpha val="8000"/>
            </a:srgbClr>
          </a:solidFill>
          <a:ln w="12700" cap="flat" cmpd="sng">
            <a:solidFill>
              <a:srgbClr val="0080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08000" y="24765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25781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服务层 (API Layer) · 高性能接口网关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FastAPI 框架构建高并发异步接口层，封装统一的请求路由、参数校验、鉴权逻辑与响应格式化标准。通过标准化接口实现前后端分离，保障系统在高并发请求下的低延迟响应与高可用性，同时支持接口的快速迭代与版本管理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08000" y="3683000"/>
            <a:ext cx="11176000" cy="1206500"/>
          </a:xfrm>
          <a:prstGeom prst="roundRect">
            <a:avLst>
              <a:gd name="adj" fmla="val 0"/>
            </a:avLst>
          </a:prstGeom>
          <a:solidFill>
            <a:srgbClr val="008080">
              <a:alpha val="8000"/>
            </a:srgbClr>
          </a:solidFill>
          <a:ln w="12700" cap="flat" cmpd="sng">
            <a:solidFill>
              <a:srgbClr val="0080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08000" y="3683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3784600"/>
            <a:ext cx="520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03-1 实体匹配引擎 · 精准语义映射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融合别名精确匹配、Faiss 向量语义检索与 TF-IDF 加权消歧排序算法，解决“同名异义”与“异名同义”问题，实现从自然语言模糊查询到标准化业务实体的精准映射，是保障语义理解准确性的核心基础。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5354166">
            <a:off x="5619750" y="42799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808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286500" y="3784600"/>
            <a:ext cx="520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03-2 智能共指消解 · 逻辑关联还原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基于上下文语境分析与语法规则模型，自动识别并关联代词（他/它）、缩略语及集合指代关系。有效还原长文本与多轮对话中实体间的逻辑关联，消除指代歧义，提升系统对复杂文本的理解连贯性与深度。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08000" y="5016500"/>
            <a:ext cx="11176000" cy="1206500"/>
          </a:xfrm>
          <a:prstGeom prst="roundRect">
            <a:avLst>
              <a:gd name="adj" fmla="val 0"/>
            </a:avLst>
          </a:prstGeom>
          <a:solidFill>
            <a:srgbClr val="008080">
              <a:alpha val="8000"/>
            </a:srgbClr>
          </a:solidFill>
          <a:ln w="12700" cap="flat" cmpd="sng">
            <a:solidFill>
              <a:srgbClr val="0080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08000" y="50165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118100"/>
            <a:ext cx="520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04-1 行业知识库层 · 结构化数据底座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构建标准化的行业实体知识库，包含实体属性、多语言别名映射表、层级关系与动态倒排索引。支持毫秒级检索与增量更新，为核心处理层提供实时、准确的业务数据支撑，是智能推理的知识源泉。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5354166">
            <a:off x="5619750" y="56134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808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286500" y="5118100"/>
            <a:ext cx="520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04-2 全链路日志追溯 · 可观测性保障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SQLite 实现轻量化、高可靠的日志持久化存储，完整记录请求参数、中间处理节点、匹配结果、异常信息与最终响应。支持全链路调用链查询、效果复盘分析与操作合规审计，确保系统的可追溯性与可维护性。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1016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核心能力(1)：</a:t>
            </a:r>
            <a:br>
              <a:rPr lang="en-US" sz="3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3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实体链接主流程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3048000"/>
            <a:ext cx="355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实体链接是连接非结构化文本与结构化知识库的桥梁，通过精准匹配将文本中的实体提及映射到标准知识库中的唯一实体，是知识图谱构建、智能检索与语义理解的核心基础。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5334000"/>
            <a:ext cx="3556000" cy="762000"/>
          </a:xfrm>
          <a:prstGeom prst="roundRect">
            <a:avLst>
              <a:gd name="adj" fmla="val 0"/>
            </a:avLst>
          </a:prstGeom>
          <a:solidFill>
            <a:srgbClr val="0080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54864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从文本到知识的精准映射引擎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191000" y="1016000"/>
            <a:ext cx="3746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1500" y="12446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826000" y="1244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多源输入与灵活配置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2972">
            <a:off x="4381512" y="1771650"/>
            <a:ext cx="336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381500" y="1905000"/>
            <a:ext cx="336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支持纯自然语言文本直接输入，兼容用户预标注的实体提及列表。提供可配置的匹配阈值、召回策略及歧义消解开关，灵活适配不同业务场景对精度与召回率的平衡需求。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64500" y="1016000"/>
            <a:ext cx="3746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5000" y="12446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99500" y="1244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标准化与可追溯输出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2972">
            <a:off x="8255012" y="1771650"/>
            <a:ext cx="336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255000" y="1905000"/>
            <a:ext cx="336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输出包含标准实体ID、规范名称、置信度评分及NIL标识（区分未匹配实体）。核心特性是附带详细的</a:t>
            </a:r>
            <a:r>
              <a:rPr lang="en-US" sz="1300" b="0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链接依据(Evidence)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与候选实体列表，确保结果的可解释性与可复核性。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191000" y="3937000"/>
            <a:ext cx="7620000" cy="2222500"/>
          </a:xfrm>
          <a:prstGeom prst="roundRect">
            <a:avLst>
              <a:gd name="adj" fmla="val 0"/>
            </a:avLst>
          </a:prstGeom>
          <a:solidFill>
            <a:srgbClr val="008080">
              <a:alpha val="6000"/>
            </a:srgbClr>
          </a:solidFill>
          <a:ln w="12700" cap="flat" cmpd="sng">
            <a:solidFill>
              <a:srgbClr val="0080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500" y="4191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889500" y="4191000"/>
            <a:ext cx="673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核心价值：可解释性驱动的高可信度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81500" y="4762500"/>
            <a:ext cx="723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拒绝“黑盒”运算，通过返回匹配证据链与候选排名，极大降低了人工复核与模型调试的成本。这种可解释性不仅提升了结果的可信度，更让知识图谱的构建过程透明可控，为下游的智能问答、推荐系统等应用提供了坚实的高质量实体基础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10160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核心能力(2)：</a:t>
            </a:r>
            <a:br>
              <a:rPr lang="en-US" sz="28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8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共指消解能力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794000"/>
            <a:ext cx="368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在自然语言处理中，共指消解是让机器“读懂上下文”的关键技术。它解决了代词（他/她/它/他们）与前文实体的关联问题，将碎片化的信息点串联成完整的语义链条，是实现智能问答、知识图谱构建的基础。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4953000"/>
            <a:ext cx="3683000" cy="10160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5143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“让机器准确识别文本中的</a:t>
            </a:r>
            <a:b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‘谁是谁’与‘什么是什么’”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0" y="1016000"/>
            <a:ext cx="711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26000" y="1206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70500" y="11684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典型语境：代词的模糊性挑战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26000" y="1651000"/>
            <a:ext cx="660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例句：“人民日报社、新华通讯社、澎湃新闻正在飞速发展，</a:t>
            </a:r>
            <a:r>
              <a:rPr lang="en-US" sz="14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他们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是我们的未来。”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难点：如何让机器知道“他们”具体指代哪几个机构？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79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99999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762500" y="2984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未开启共指消解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762500" y="3365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系统将“他们”视为独立虚词，无法建立与前文机构的关联，导致语义理解断裂，无法形成完整的信息闭环。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79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0080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445500" y="2984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开启共指消解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45500" y="3365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精准映射：“他们” = 人民日报社 + 新华通讯社 + 澎湃新闻。将分散的实体信息聚合，实现对文本意图的完整理解。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2000" y="4826000"/>
            <a:ext cx="711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5016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270500" y="49784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技术核心：基于实体链接的映射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826000" y="5461000"/>
            <a:ext cx="660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共指消解并非孤立运行，它必须建立在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实体链接（NER+EL）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成功的基础之上。只有先精准识别出句中的机构、人物等实体，才能通过算法计算，为代词找到正确的“先行词”，从而还原文本的真实逻辑。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核心能力(3)：可追溯与服务化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5397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841500"/>
            <a:ext cx="438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全链路可追溯机制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929">
            <a:off x="762008" y="2406650"/>
            <a:ext cx="4889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2667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唯一 Trace ID 锚点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每次请求生成全局唯一标识，作为全链路数据串联的核心索引，确保从接入到响应的每一步都可精准定位，杜绝链路信息丢失。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全量数据持久化落库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请求参数、业务实体快照、中间计算结果及节点执行日志完整写入SQLite，形成不可篡改的操作审计与数据留存闭环。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结果可解释与高可信度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系统具备“白盒”特性，不仅输出结果，更能回溯决策逻辑与数据依据，大幅降低排查成本，增强系统的可信度与可维护性。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86500" y="1524000"/>
            <a:ext cx="5397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841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048500" y="1841500"/>
            <a:ext cx="438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标准化服务化交付能力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8929">
            <a:off x="6540508" y="2406650"/>
            <a:ext cx="4889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540500" y="2667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 通用协议接口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基于标准HTTP协议封装，兼容前端页面调试、Postman测试及后端业务代码的无缝集成，打破技术栈限制，适配多场景调用。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540500" y="3683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Swagger 可视化文档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提供自动同步的RESTful接口规范文档，支持在线参数校验与接口调试，降低前后端对接成本，提升开发协作效率。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540500" y="4699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易集成与灵活扩展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统一的入参出参标准设计，支持快速二次开发与功能迭代，能够根据业务需求灵活定制，满足不同场景的扩展需求。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5969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以全链路可追溯保障系统可信可控，以标准化服务化提升交付效率，构建稳定、透明、易用的技术支撑底座。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1905000" cy="1905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1524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模块成果(1)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3683000"/>
            <a:ext cx="355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本次开发聚焦于实体链接全流程的工程化落地，从核心流水线构建到知识库动态适配，再到中文语境下的共指消解优化，实现了算法逻辑与工程稳定性的双重突破，为语义理解提供了坚实的底层支撑。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0" y="1079500"/>
            <a:ext cx="7112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72000" y="1079500"/>
            <a:ext cx="76200" cy="15875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9500" y="1333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461000" y="12954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实体链接全流程贯通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461000" y="17780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成功打通“候选生成→实体消歧→NIL判定”的核心链路；创新设计本地Fallback规则回退机制，确保在无模型或低算力环境下服务仍能稳定输出，实现结果兜底保障。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857500"/>
            <a:ext cx="7112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72000" y="2857500"/>
            <a:ext cx="76200" cy="15875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9500" y="3111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461000" y="30734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灵活化知识库与别名适配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461000" y="35560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实现知识库从外部路径的动态加载与热更新能力；兼容标准JSON数据结构，支持行业专属知识库的快速替换与扩展，轻松适配金融、医疗等垂直领域的实体识别需求。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72000" y="4635500"/>
            <a:ext cx="7112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572000" y="4635500"/>
            <a:ext cx="76200" cy="15875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9500" y="4889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461000" y="48514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中文语境共指消解规则体系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461000" y="53340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针对中文指代特性定制专项规则集，有效覆盖人称代词、名词性指代及集合指代等典型场景；显著提升长文本中实体关联的准确率，解决指代不明导致的语义断裂问题。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795000" y="-635000"/>
            <a:ext cx="1905000" cy="1905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20320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模块成果(2)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444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4953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聚焦后端架构搭建与智能调度体系，夯实系统底层技术基座，保障服务高可用性与未来业务的灵活扩展。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4191000" y="1016000"/>
            <a:ext cx="7493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1333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5016500" y="1333500"/>
            <a:ext cx="647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FastAPI 服务层与全链路数据追踪</a:t>
            </a:r>
            <a:endParaRPr lang="en-US" sz="1100"/>
          </a:p>
        </p:txBody>
      </p:sp>
      <p:cxnSp>
        <p:nvCxnSpPr>
          <p:cNvPr id="11" name="Connector 11"/>
          <p:cNvCxnSpPr/>
          <p:nvPr>
            <p:custDataLst>
              <p:tags r:id="rId6"/>
            </p:custDataLst>
          </p:nvPr>
        </p:nvCxnSpPr>
        <p:spPr>
          <a:xfrm rot="-6250">
            <a:off x="4445006" y="1924050"/>
            <a:ext cx="698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4445000" y="2095500"/>
            <a:ext cx="6985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基础构建：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搭建高可用的FastAPI服务端与SQLite持久化层，实现数据库自动初始化，确保系统开箱即用。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核心接口：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提供服务健康检查、实体链接主接口及Agent统一查询入口，打通数据流转通道。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追踪体系：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建立基于`trace_id`的请求级全链路追踪机制，实现调用链路可视化，提升排查效率。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4191000" y="3746500"/>
            <a:ext cx="7493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80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45000" y="4064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5016500" y="4064000"/>
            <a:ext cx="647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可插拔式 Agent 智能调度架构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13"/>
            </p:custDataLst>
          </p:nvPr>
        </p:nvCxnSpPr>
        <p:spPr>
          <a:xfrm rot="-6250">
            <a:off x="4445006" y="4654550"/>
            <a:ext cx="698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4445000" y="4826000"/>
            <a:ext cx="6985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策略解耦：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设计可插拔的Agent策略框架，实现调度逻辑与执行策略的解耦，降低系统耦合度。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工厂模式：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采用Agent工厂注册模式，默认支持本地推理引擎，支持灵活扩展第三方或自定义策略。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灵活扩展：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架构预留接口，支持多模型推理集成与动态策略热切换，为智能化升级提供技术支撑。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80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交付成果与后续展望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已交付核心成果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095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2413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603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79500" y="2603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即开即用服务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8500" y="3048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部署可直接运行的高并发实体链接服务，支持标准HTTP协议调用，实现业务系统的快速集成。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238500" y="2413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0" y="2603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810000" y="2603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标准化接口规范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29000" y="3048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输出统一的RESTful接口定义，配套完整的Swagger在线调试文档，降低开发与联调成本。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" y="42545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4445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79500" y="4445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全链路审计追踪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8500" y="48895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构建完整的Trace日志数据库，记录请求参数、处理结果及耗时，确保调用过程可追溯、可审计。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238500" y="42545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9000" y="4445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3810000" y="4445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完善的配套支持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429000" y="48895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提供独立的中文共指消解模块、自动化回归测试脚本及多场景示例代码，保障交付质量。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1524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未来演进规划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2095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2413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2603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794500" y="2603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共指能力增强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13500" y="3048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融合基于规则的确定性消解与预训练模型的概率性预测，提升复杂句式与长文本中的指代准确率。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953500" y="2413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0" y="26035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525000" y="2603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智能消歧增强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144000" y="3048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引入LLM大模型作为兜底策略，结合上下文语境进行推理，解决传统算法难以处理的歧义问题。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23000" y="42545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44450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6794500" y="4445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知识库可视化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413500" y="48895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开发可视化的知识库管理后台，支持实体库的在线编辑、审核发布及关系图谱的动态展示。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953500" y="42545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44000" y="4445000"/>
            <a:ext cx="304800" cy="3048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9525000" y="4445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Agent策略扩展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144000" y="48895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接入多智能体(Agent)推理策略，实现实体的主动发现、关联补全及复杂问题的智能问答。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762000"/>
            <a:ext cx="2794000" cy="2794000"/>
          </a:xfrm>
          <a:prstGeom prst="ellipse">
            <a:avLst/>
          </a:prstGeom>
          <a:solidFill>
            <a:srgbClr val="008080">
              <a:alpha val="6000"/>
            </a:srgbClr>
          </a:solidFill>
          <a:ln cap="flat" cmpd="sng">
            <a:solidFill>
              <a:srgbClr val="00676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762000" y="5207000"/>
            <a:ext cx="2286000" cy="2286000"/>
          </a:xfrm>
          <a:prstGeom prst="ellipse">
            <a:avLst/>
          </a:prstGeom>
          <a:solidFill>
            <a:srgbClr val="008080">
              <a:alpha val="6000"/>
            </a:srgbClr>
          </a:solidFill>
          <a:ln cap="flat" cmpd="sng">
            <a:solidFill>
              <a:srgbClr val="00676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2032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0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 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810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spc="800">
                <a:solidFill>
                  <a:srgbClr val="008080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4699000"/>
            <a:ext cx="1524000" cy="38100"/>
          </a:xfrm>
          <a:prstGeom prst="roundRect">
            <a:avLst>
              <a:gd name="adj" fmla="val 0"/>
            </a:avLst>
          </a:prstGeom>
          <a:solidFill>
            <a:srgbClr val="0080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0" y="5080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2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3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4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5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6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7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8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9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10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11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12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13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14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15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16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17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18.xml><?xml version="1.0" encoding="utf-8"?>
<p:tagLst xmlns:p="http://schemas.openxmlformats.org/presentationml/2006/main">
  <p:tag name="KSO_WM_DIAGRAM_VIRTUALLY_FRAME" val="{&quot;height&quot;:330,&quot;left&quot;:40,&quot;top&quot;:140,&quot;width&quot;:880}"/>
</p:tagLst>
</file>

<file path=ppt/tags/tag19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20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21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22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23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24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25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26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27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28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29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30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31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32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33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34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35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36.xml><?xml version="1.0" encoding="utf-8"?>
<p:tagLst xmlns:p="http://schemas.openxmlformats.org/presentationml/2006/main">
  <p:tag name="KSO_WM_DIAGRAM_VIRTUALLY_FRAME" val="{&quot;height&quot;:300,&quot;left&quot;:40,&quot;top&quot;:130,&quot;width&quot;:880}"/>
</p:tagLst>
</file>

<file path=ppt/tags/tag37.xml><?xml version="1.0" encoding="utf-8"?>
<p:tagLst xmlns:p="http://schemas.openxmlformats.org/presentationml/2006/main">
  <p:tag name="KSO_WM_DIAGRAM_VIRTUALLY_FRAME" val="{&quot;height&quot;:405,&quot;left&quot;:330,&quot;top&quot;:80,&quot;width&quot;:590}"/>
</p:tagLst>
</file>

<file path=ppt/tags/tag38.xml><?xml version="1.0" encoding="utf-8"?>
<p:tagLst xmlns:p="http://schemas.openxmlformats.org/presentationml/2006/main">
  <p:tag name="KSO_WM_DIAGRAM_VIRTUALLY_FRAME" val="{&quot;height&quot;:405,&quot;left&quot;:330,&quot;top&quot;:80,&quot;width&quot;:590}"/>
</p:tagLst>
</file>

<file path=ppt/tags/tag39.xml><?xml version="1.0" encoding="utf-8"?>
<p:tagLst xmlns:p="http://schemas.openxmlformats.org/presentationml/2006/main">
  <p:tag name="KSO_WM_DIAGRAM_VIRTUALLY_FRAME" val="{&quot;height&quot;:405,&quot;left&quot;:330,&quot;top&quot;:80,&quot;width&quot;:590}"/>
</p:tagLst>
</file>

<file path=ppt/tags/tag40.xml><?xml version="1.0" encoding="utf-8"?>
<p:tagLst xmlns:p="http://schemas.openxmlformats.org/presentationml/2006/main">
  <p:tag name="KSO_WM_DIAGRAM_VIRTUALLY_FRAME" val="{&quot;height&quot;:405,&quot;left&quot;:330,&quot;top&quot;:80,&quot;width&quot;:590}"/>
</p:tagLst>
</file>

<file path=ppt/tags/tag41.xml><?xml version="1.0" encoding="utf-8"?>
<p:tagLst xmlns:p="http://schemas.openxmlformats.org/presentationml/2006/main">
  <p:tag name="KSO_WM_DIAGRAM_VIRTUALLY_FRAME" val="{&quot;height&quot;:405,&quot;left&quot;:330,&quot;top&quot;:80,&quot;width&quot;:590}"/>
</p:tagLst>
</file>

<file path=ppt/tags/tag42.xml><?xml version="1.0" encoding="utf-8"?>
<p:tagLst xmlns:p="http://schemas.openxmlformats.org/presentationml/2006/main">
  <p:tag name="KSO_WM_DIAGRAM_VIRTUALLY_FRAME" val="{&quot;height&quot;:405,&quot;left&quot;:330,&quot;top&quot;:80,&quot;width&quot;:590}"/>
</p:tagLst>
</file>

<file path=ppt/tags/tag43.xml><?xml version="1.0" encoding="utf-8"?>
<p:tagLst xmlns:p="http://schemas.openxmlformats.org/presentationml/2006/main">
  <p:tag name="KSO_WM_DIAGRAM_VIRTUALLY_FRAME" val="{&quot;height&quot;:405,&quot;left&quot;:330,&quot;top&quot;:80,&quot;width&quot;:590}"/>
</p:tagLst>
</file>

<file path=ppt/tags/tag44.xml><?xml version="1.0" encoding="utf-8"?>
<p:tagLst xmlns:p="http://schemas.openxmlformats.org/presentationml/2006/main">
  <p:tag name="KSO_WM_DIAGRAM_VIRTUALLY_FRAME" val="{&quot;height&quot;:405,&quot;left&quot;:330,&quot;top&quot;:80,&quot;width&quot;:590}"/>
</p:tagLst>
</file>

<file path=ppt/tags/tag45.xml><?xml version="1.0" encoding="utf-8"?>
<p:tagLst xmlns:p="http://schemas.openxmlformats.org/presentationml/2006/main">
  <p:tag name="KSO_WM_DIAGRAM_VIRTUALLY_FRAME" val="{&quot;height&quot;:405,&quot;left&quot;:330,&quot;top&quot;:80,&quot;width&quot;:590}"/>
</p:tagLst>
</file>

<file path=ppt/tags/tag46.xml><?xml version="1.0" encoding="utf-8"?>
<p:tagLst xmlns:p="http://schemas.openxmlformats.org/presentationml/2006/main">
  <p:tag name="KSO_WM_DIAGRAM_VIRTUALLY_FRAME" val="{&quot;height&quot;:405,&quot;left&quot;:330,&quot;top&quot;:80,&quot;width&quot;:59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4029</Words>
  <Application>WPS 演示</Application>
  <PresentationFormat/>
  <Paragraphs>244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作者</cp:lastModifiedBy>
  <cp:revision>7</cp:revision>
  <dcterms:created xsi:type="dcterms:W3CDTF">2026-07-13T13:59:37Z</dcterms:created>
  <dcterms:modified xsi:type="dcterms:W3CDTF">2026-07-13T14:07:10Z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{"Label":"1","ContentProducer":"001191110102MACQD9K64010000","ProduceID":"7662011620063104242","ReservedCode1":"","ContentPropagator":"","PropagateID":"","ReservedCode2":""}</vt:lpwstr>
  </property>
  <property fmtid="{D5CDD505-2E9C-101B-9397-08002B2CF9AE}" pid="3" name="ICV">
    <vt:lpwstr>CD284A1CCF3541FE825E6B07A3A171FF_12</vt:lpwstr>
  </property>
  <property fmtid="{D5CDD505-2E9C-101B-9397-08002B2CF9AE}" pid="4" name="KSOProductBuildVer">
    <vt:lpwstr>2052-12.1.0.26895</vt:lpwstr>
  </property>
</Properties>
</file>